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"/>
            <a:ext cx="2011680" cy="201168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206240"/>
            <a:ext cx="2743200" cy="27432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4" name="Image 0" descr="icons/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02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 — Jharkhand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Find.  Analyze.  Recommend.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local businesses without a website and uncovering real digital-growth opportunities across Jharkhand.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507492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2324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1389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1,650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008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Analyzed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507492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2324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54680" y="51389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15468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0" y="507492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2324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51389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66928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Data Analysis Task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sets out to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3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7373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pulled from Google Maps — name, category, rating, location, website, and contact info.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41732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3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17373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bro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2004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the Website field and engineered flags for website presence, opportunity level, and rating tier.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41732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3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0900" y="173736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19202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46520" y="32004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and city-wise digital presence, cross-checked against rating and service amenities.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41732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3F8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5540" y="1737360"/>
            <a:ext cx="731520" cy="73152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21" name="Image 3" descr="icon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1920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Opportunities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81160" y="32004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high-rated businesses with no website — real, ready-to-convert growth prospects.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Maps Points of Interest (POI)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22 cities across Jharkhand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1,650 businesses, 24 categories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Name, Category, City, Locality, Address,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Lat/Long, Website, Phone, Rating, Hours,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Parking, Delivery, Status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4434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8463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across all 14 fields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business names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in URLs standardized (e.g. " https://sbi.co.in")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3F8F8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29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POI export (.xlsx)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843784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3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9077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Cleaning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32095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721608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3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78561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40873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(Matplotlib, Seaborn) in Jupyter Notebook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599432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3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663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9651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(formulas, pivot-style tables, native charts)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5477256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3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554126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584301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— Insights &amp; Opportunities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Coverage — The Headline Numbers</a:t>
            </a:r>
            <a:endParaRPr lang="en-US" sz="2800" dirty="0"/>
          </a:p>
        </p:txBody>
      </p:sp>
      <p:pic>
        <p:nvPicPr>
          <p:cNvPr id="3" name="Image 0" descr="charts/01_website_coverage_don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493776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52160" y="146304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52160" y="1463040"/>
            <a:ext cx="10972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15361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1,650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172200" y="2057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Businesses Analyzed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2670048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2670048"/>
            <a:ext cx="10972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2743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1,620 (98.2%)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72200" y="32644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 a Website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3877056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3877056"/>
            <a:ext cx="109728" cy="10515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39502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(1.8%)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172200" y="44714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Without a Website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52160" y="5084064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5084064"/>
            <a:ext cx="109728" cy="105156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515721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172200" y="567842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High-Opportunity Businesses (4.0★+, no site)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Having a Website Relate to Rating?</a:t>
            </a:r>
            <a:endParaRPr lang="en-US" sz="2800" dirty="0"/>
          </a:p>
        </p:txBody>
      </p:sp>
      <p:pic>
        <p:nvPicPr>
          <p:cNvPr id="3" name="Image 0" descr="charts/05_rating_band_st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640080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78040" y="1554480"/>
            <a:ext cx="4480560" cy="1920240"/>
          </a:xfrm>
          <a:prstGeom prst="roundRect">
            <a:avLst>
              <a:gd name="adj" fmla="val 3810"/>
            </a:avLst>
          </a:prstGeom>
          <a:solidFill>
            <a:srgbClr val="0B2545"/>
          </a:solidFill>
          <a:ln/>
        </p:spPr>
      </p:sp>
      <p:sp>
        <p:nvSpPr>
          <p:cNvPr id="5" name="Text 2"/>
          <p:cNvSpPr/>
          <p:nvPr/>
        </p:nvSpPr>
        <p:spPr>
          <a:xfrm>
            <a:off x="7406640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4.23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40664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— Has Website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418320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23544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— No Website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3749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78040" y="411480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without a website average a third of a point lower in rating. While not necessarily causal, it reinforces that these 30 businesses are an underexposed segment — solid on quality, invisible online.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Category-wise Digital Presence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most need to get online</a:t>
            </a:r>
            <a:endParaRPr lang="en-US" sz="1300" dirty="0"/>
          </a:p>
        </p:txBody>
      </p:sp>
      <p:pic>
        <p:nvPicPr>
          <p:cNvPr id="4" name="Image 0" descr="charts/03_category_no_website_p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73152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0100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332720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100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32720" y="2468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100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32720" y="2926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01000" y="3383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332720" y="3383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332720" y="3840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01000" y="4343400"/>
            <a:ext cx="3566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Gap Categories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01000" y="4892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· Banks · Supermarkets · Grocery Stores already have full website coverage.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City-wise Opportunity Concentration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no-website businesses are located</a:t>
            </a:r>
            <a:endParaRPr lang="en-US" sz="1300" dirty="0"/>
          </a:p>
        </p:txBody>
      </p:sp>
      <p:pic>
        <p:nvPicPr>
          <p:cNvPr id="4" name="Image 0" descr="charts/04_city_no_webs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694944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508760"/>
            <a:ext cx="4069080" cy="2286000"/>
          </a:xfrm>
          <a:prstGeom prst="roundRect">
            <a:avLst>
              <a:gd name="adj" fmla="val 3200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91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18120" y="2377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no-website businesses are in just 2 cities — Jamshedpur (14) and Dhanbad (11).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89520" y="3977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Cities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0" y="4434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businesses · 12.3%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Dhanbad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0" y="48920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businesses · 11.0%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Bokaro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01200" y="53492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businesses · 3.6%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Zones — Locality Hotspots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city + locality pinpoints exactly where to focus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554480"/>
            <a:ext cx="210312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155448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Biz.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155448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554480"/>
            <a:ext cx="155448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210312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51760" y="2011680"/>
            <a:ext cx="210312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011680"/>
            <a:ext cx="155448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2011680"/>
            <a:ext cx="155448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63840" y="2011680"/>
            <a:ext cx="155448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24688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51760" y="24688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Bistupur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24688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24688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2468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2926080"/>
            <a:ext cx="210312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Dhanbad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651760" y="2926080"/>
            <a:ext cx="210312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Dhanbad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2926080"/>
            <a:ext cx="155448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926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09360" y="2926080"/>
            <a:ext cx="155448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926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863840" y="2926080"/>
            <a:ext cx="155448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2926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33832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651760" y="33832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Sakchi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54880" y="33832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09360" y="33832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863840" y="33832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48640" y="3840480"/>
            <a:ext cx="210312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840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Dhanbad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651760" y="3840480"/>
            <a:ext cx="210312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0" y="3840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More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754880" y="3840480"/>
            <a:ext cx="155448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309360" y="3840480"/>
            <a:ext cx="155448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863840" y="3840480"/>
            <a:ext cx="1554480" cy="457200"/>
          </a:xfrm>
          <a:prstGeom prst="rect">
            <a:avLst/>
          </a:prstGeom>
          <a:solidFill>
            <a:srgbClr val="F3F8F8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48640" y="42976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297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Ranchi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651760" y="42976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51760" y="4297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Ranchi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754880" y="42976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309360" y="42976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863840" y="429768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3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4297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54864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548640" y="537667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 town center and Bistupur alone account for 10 of the 16 high-opportunity businesses — an efficient starting radius for on-ground outreach.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These Businesses Already Offer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&amp; delivery among no-website businesses</a:t>
            </a:r>
            <a:endParaRPr lang="en-US" sz="1300" dirty="0"/>
          </a:p>
        </p:txBody>
      </p:sp>
      <p:pic>
        <p:nvPicPr>
          <p:cNvPr id="4" name="Image 0" descr="charts/07_amenities_no_webs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463040"/>
            <a:ext cx="640080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82880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9244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icons/park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3317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98280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9098280" y="25420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offer Parking (Yes / Limited)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863840" y="352044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3F8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092440" y="3840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0233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828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9098280" y="4233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offer Delivery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863840" y="5303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863840" y="5669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amenities are ready-made content for a first website — the pitch is: "we'll put what you already offer on the map."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Business Opportunities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Highest-rated businesses with no website today — ready for outreach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97280" y="1417320"/>
            <a:ext cx="329184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17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20116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20116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0" y="1417320"/>
            <a:ext cx="914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417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486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2880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1828800"/>
            <a:ext cx="32918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18288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Bombay Brew Cafe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8288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828800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8288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1828800"/>
            <a:ext cx="91440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18288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231136"/>
            <a:ext cx="5486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23113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2231136"/>
            <a:ext cx="32918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22311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Brubeck Bakery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2231136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22311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231136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2311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12480" y="2231136"/>
            <a:ext cx="91440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223113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2633472"/>
            <a:ext cx="5486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63347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97280" y="2633472"/>
            <a:ext cx="32918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26334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Chanoya Cafe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89120" y="2633472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0" y="26334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2633472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6334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12480" y="2633472"/>
            <a:ext cx="91440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263347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035808"/>
            <a:ext cx="5486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03580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97280" y="3035808"/>
            <a:ext cx="32918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47" name="Text 45"/>
          <p:cNvSpPr/>
          <p:nvPr/>
        </p:nvSpPr>
        <p:spPr>
          <a:xfrm>
            <a:off x="1188720" y="30358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Caramel Patisserie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89120" y="3035808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49" name="Text 47"/>
          <p:cNvSpPr/>
          <p:nvPr/>
        </p:nvSpPr>
        <p:spPr>
          <a:xfrm>
            <a:off x="4389120" y="30358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3035808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30358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412480" y="3035808"/>
            <a:ext cx="91440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53" name="Text 51"/>
          <p:cNvSpPr/>
          <p:nvPr/>
        </p:nvSpPr>
        <p:spPr>
          <a:xfrm>
            <a:off x="8412480" y="303580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3438144"/>
            <a:ext cx="5486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343814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97280" y="3438144"/>
            <a:ext cx="32918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57" name="Text 55"/>
          <p:cNvSpPr/>
          <p:nvPr/>
        </p:nvSpPr>
        <p:spPr>
          <a:xfrm>
            <a:off x="1188720" y="343814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Downtown Cafe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389120" y="3438144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59" name="Text 57"/>
          <p:cNvSpPr/>
          <p:nvPr/>
        </p:nvSpPr>
        <p:spPr>
          <a:xfrm>
            <a:off x="4389120" y="343814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0" y="3438144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0" y="343814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412480" y="3438144"/>
            <a:ext cx="91440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63" name="Text 61"/>
          <p:cNvSpPr/>
          <p:nvPr/>
        </p:nvSpPr>
        <p:spPr>
          <a:xfrm>
            <a:off x="8412480" y="343814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3840480"/>
            <a:ext cx="5486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65" name="Text 63"/>
          <p:cNvSpPr/>
          <p:nvPr/>
        </p:nvSpPr>
        <p:spPr>
          <a:xfrm>
            <a:off x="548640" y="384048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097280" y="3840480"/>
            <a:ext cx="32918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67" name="Text 65"/>
          <p:cNvSpPr/>
          <p:nvPr/>
        </p:nvSpPr>
        <p:spPr>
          <a:xfrm>
            <a:off x="1188720" y="38404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Regal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389120" y="3840480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69" name="Text 67"/>
          <p:cNvSpPr/>
          <p:nvPr/>
        </p:nvSpPr>
        <p:spPr>
          <a:xfrm>
            <a:off x="4389120" y="38404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400800" y="3840480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71" name="Text 69"/>
          <p:cNvSpPr/>
          <p:nvPr/>
        </p:nvSpPr>
        <p:spPr>
          <a:xfrm>
            <a:off x="6400800" y="38404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412480" y="3840480"/>
            <a:ext cx="91440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73" name="Text 71"/>
          <p:cNvSpPr/>
          <p:nvPr/>
        </p:nvSpPr>
        <p:spPr>
          <a:xfrm>
            <a:off x="8412480" y="384048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8640" y="4242816"/>
            <a:ext cx="5486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75" name="Text 73"/>
          <p:cNvSpPr/>
          <p:nvPr/>
        </p:nvSpPr>
        <p:spPr>
          <a:xfrm>
            <a:off x="548640" y="424281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097280" y="4242816"/>
            <a:ext cx="32918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77" name="Text 75"/>
          <p:cNvSpPr/>
          <p:nvPr/>
        </p:nvSpPr>
        <p:spPr>
          <a:xfrm>
            <a:off x="1188720" y="42428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Bokaro Mall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389120" y="4242816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79" name="Text 77"/>
          <p:cNvSpPr/>
          <p:nvPr/>
        </p:nvSpPr>
        <p:spPr>
          <a:xfrm>
            <a:off x="4389120" y="42428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Mall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400800" y="4242816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81" name="Text 79"/>
          <p:cNvSpPr/>
          <p:nvPr/>
        </p:nvSpPr>
        <p:spPr>
          <a:xfrm>
            <a:off x="6400800" y="42428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Bokaro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412480" y="4242816"/>
            <a:ext cx="91440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83" name="Text 81"/>
          <p:cNvSpPr/>
          <p:nvPr/>
        </p:nvSpPr>
        <p:spPr>
          <a:xfrm>
            <a:off x="8412480" y="424281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48640" y="4645152"/>
            <a:ext cx="5486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85" name="Text 83"/>
          <p:cNvSpPr/>
          <p:nvPr/>
        </p:nvSpPr>
        <p:spPr>
          <a:xfrm>
            <a:off x="548640" y="464515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1097280" y="4645152"/>
            <a:ext cx="32918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87" name="Text 85"/>
          <p:cNvSpPr/>
          <p:nvPr/>
        </p:nvSpPr>
        <p:spPr>
          <a:xfrm>
            <a:off x="1188720" y="46451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Cafe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389120" y="4645152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89" name="Text 87"/>
          <p:cNvSpPr/>
          <p:nvPr/>
        </p:nvSpPr>
        <p:spPr>
          <a:xfrm>
            <a:off x="438912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400800" y="4645152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91" name="Text 89"/>
          <p:cNvSpPr/>
          <p:nvPr/>
        </p:nvSpPr>
        <p:spPr>
          <a:xfrm>
            <a:off x="6400800" y="46451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412480" y="4645152"/>
            <a:ext cx="91440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93" name="Text 91"/>
          <p:cNvSpPr/>
          <p:nvPr/>
        </p:nvSpPr>
        <p:spPr>
          <a:xfrm>
            <a:off x="8412480" y="464515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8640" y="5047488"/>
            <a:ext cx="5486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95" name="Text 93"/>
          <p:cNvSpPr/>
          <p:nvPr/>
        </p:nvSpPr>
        <p:spPr>
          <a:xfrm>
            <a:off x="548640" y="504748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1097280" y="5047488"/>
            <a:ext cx="329184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97" name="Text 95"/>
          <p:cNvSpPr/>
          <p:nvPr/>
        </p:nvSpPr>
        <p:spPr>
          <a:xfrm>
            <a:off x="1188720" y="50474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Equinox Restaurant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4389120" y="5047488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99" name="Text 97"/>
          <p:cNvSpPr/>
          <p:nvPr/>
        </p:nvSpPr>
        <p:spPr>
          <a:xfrm>
            <a:off x="4389120" y="504748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400800" y="5047488"/>
            <a:ext cx="201168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101" name="Text 99"/>
          <p:cNvSpPr/>
          <p:nvPr/>
        </p:nvSpPr>
        <p:spPr>
          <a:xfrm>
            <a:off x="6400800" y="504748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8412480" y="5047488"/>
            <a:ext cx="914400" cy="402336"/>
          </a:xfrm>
          <a:prstGeom prst="rect">
            <a:avLst/>
          </a:prstGeom>
          <a:solidFill>
            <a:srgbClr val="12324F"/>
          </a:solidFill>
          <a:ln/>
        </p:spPr>
      </p:sp>
      <p:sp>
        <p:nvSpPr>
          <p:cNvPr id="103" name="Text 101"/>
          <p:cNvSpPr/>
          <p:nvPr/>
        </p:nvSpPr>
        <p:spPr>
          <a:xfrm>
            <a:off x="8412480" y="50474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548640" y="5449824"/>
            <a:ext cx="5486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105" name="Text 103"/>
          <p:cNvSpPr/>
          <p:nvPr/>
        </p:nvSpPr>
        <p:spPr>
          <a:xfrm>
            <a:off x="548640" y="544982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1097280" y="5449824"/>
            <a:ext cx="329184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107" name="Text 105"/>
          <p:cNvSpPr/>
          <p:nvPr/>
        </p:nvSpPr>
        <p:spPr>
          <a:xfrm>
            <a:off x="1188720" y="544982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Indian Cafe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4389120" y="5449824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109" name="Text 107"/>
          <p:cNvSpPr/>
          <p:nvPr/>
        </p:nvSpPr>
        <p:spPr>
          <a:xfrm>
            <a:off x="4389120" y="54498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6400800" y="5449824"/>
            <a:ext cx="201168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00800" y="54498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8412480" y="5449824"/>
            <a:ext cx="914400" cy="402336"/>
          </a:xfrm>
          <a:prstGeom prst="rect">
            <a:avLst/>
          </a:prstGeom>
          <a:solidFill>
            <a:srgbClr val="0E2A44"/>
          </a:solidFill>
          <a:ln/>
        </p:spPr>
      </p:sp>
      <p:sp>
        <p:nvSpPr>
          <p:cNvPr id="113" name="Text 111"/>
          <p:cNvSpPr/>
          <p:nvPr/>
        </p:nvSpPr>
        <p:spPr>
          <a:xfrm>
            <a:off x="8412480" y="544982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9601200" y="1417320"/>
            <a:ext cx="2743200" cy="4434840"/>
          </a:xfrm>
          <a:prstGeom prst="roundRect">
            <a:avLst>
              <a:gd name="adj" fmla="val 2667"/>
            </a:avLst>
          </a:prstGeom>
          <a:solidFill>
            <a:srgbClr val="12324F"/>
          </a:solidFill>
          <a:ln/>
        </p:spPr>
      </p:sp>
      <p:pic>
        <p:nvPicPr>
          <p:cNvPr id="115" name="Image 0" descr="icons/troph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691640"/>
            <a:ext cx="457200" cy="457200"/>
          </a:xfrm>
          <a:prstGeom prst="rect">
            <a:avLst/>
          </a:prstGeom>
        </p:spPr>
      </p:pic>
      <p:sp>
        <p:nvSpPr>
          <p:cNvPr id="116" name="Text 113"/>
          <p:cNvSpPr/>
          <p:nvPr/>
        </p:nvSpPr>
        <p:spPr>
          <a:xfrm>
            <a:off x="978408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10</a:t>
            </a:r>
            <a:endParaRPr lang="en-US" sz="2200" dirty="0"/>
          </a:p>
        </p:txBody>
      </p:sp>
      <p:sp>
        <p:nvSpPr>
          <p:cNvPr id="117" name="Text 114"/>
          <p:cNvSpPr/>
          <p:nvPr/>
        </p:nvSpPr>
        <p:spPr>
          <a:xfrm>
            <a:off x="978408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 Jamshedpur alone</a:t>
            </a:r>
            <a:endParaRPr lang="en-US" sz="1100" dirty="0"/>
          </a:p>
        </p:txBody>
      </p:sp>
      <p:sp>
        <p:nvSpPr>
          <p:cNvPr id="118" name="Text 115"/>
          <p:cNvSpPr/>
          <p:nvPr/>
        </p:nvSpPr>
        <p:spPr>
          <a:xfrm>
            <a:off x="9784080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10</a:t>
            </a:r>
            <a:endParaRPr lang="en-US" sz="2200" dirty="0"/>
          </a:p>
        </p:txBody>
      </p:sp>
      <p:sp>
        <p:nvSpPr>
          <p:cNvPr id="119" name="Text 116"/>
          <p:cNvSpPr/>
          <p:nvPr/>
        </p:nvSpPr>
        <p:spPr>
          <a:xfrm>
            <a:off x="9784080" y="4023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Cafes — the single most under-represented category online</a:t>
            </a:r>
            <a:endParaRPr lang="en-US" sz="1100" dirty="0"/>
          </a:p>
        </p:txBody>
      </p:sp>
      <p:sp>
        <p:nvSpPr>
          <p:cNvPr id="120" name="Text 117"/>
          <p:cNvSpPr/>
          <p:nvPr/>
        </p:nvSpPr>
        <p:spPr>
          <a:xfrm>
            <a:off x="978408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4.6★</a:t>
            </a:r>
            <a:endParaRPr lang="en-US" sz="2200" dirty="0"/>
          </a:p>
        </p:txBody>
      </p:sp>
      <p:sp>
        <p:nvSpPr>
          <p:cNvPr id="121" name="Text 118"/>
          <p:cNvSpPr/>
          <p:nvPr/>
        </p:nvSpPr>
        <p:spPr>
          <a:xfrm>
            <a:off x="978408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opportunity: Bombay Brew Cafe</a:t>
            </a:r>
            <a:endParaRPr lang="en-US" sz="1050" dirty="0"/>
          </a:p>
        </p:txBody>
      </p:sp>
      <p:sp>
        <p:nvSpPr>
          <p:cNvPr id="122" name="Text 1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123" name="Text 12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analysis into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8191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Restaurants &amp; Cafes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digital-presence gaps (8.9% &amp; 6.0%) — biggest ROI from menus, reviews &amp; online ordering.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58191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Jamshedpur &amp; Dhanbad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199339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all no-website businesses sit in these two cities — concentrate outreach effort here.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18211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16 High-Opportunity businesses first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9359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rated 4.0★+ with no website — fastest, lowest-risk wins.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246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18211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existing amenities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59359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already offer parking/delivery — surface this on a simple site or Google Business Profile.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78231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solution lightweight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19379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mobile site + Google Business Profile beats a costly custom build for this segment.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846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478231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fully-covered categories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519379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Schools, Banks, Supermarkets &amp; Grocery Stores are already at 0% gap — redirect resources.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4" name="Image 0" descr="icons/bulb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Data. Real Skills.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Today, Create Impact Tomorrow.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Cleaned Dataset · Excel Dashboard · Jupyter Notebook Analysis · Top 10 List · Recommendations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Business Analysis — Jharkhand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Maps Business Analysis — Jharkhand</dc:title>
  <dc:subject>PptxGenJS Presentation</dc:subject>
  <dc:creator>Data Analysis Project</dc:creator>
  <cp:lastModifiedBy>Data Analysis Project</cp:lastModifiedBy>
  <cp:revision>1</cp:revision>
  <dcterms:created xsi:type="dcterms:W3CDTF">2026-07-02T20:49:41Z</dcterms:created>
  <dcterms:modified xsi:type="dcterms:W3CDTF">2026-07-02T20:49:41Z</dcterms:modified>
</cp:coreProperties>
</file>